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ags/tag6.xml" ContentType="application/vnd.openxmlformats-officedocument.presentationml.tags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slides/slide17.xml" ContentType="application/vnd.openxmlformats-officedocument.presentationml.slide+xml"/>
  <Override PartName="/ppt/notesSlides/notesSlide16.xml" ContentType="application/vnd.openxmlformats-officedocument.presentationml.notes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slides/slide14.xml" ContentType="application/vnd.openxmlformats-officedocument.presentationml.slide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presProps.xml" ContentType="application/vnd.openxmlformats-officedocument.presentationml.presProps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3.xml" ContentType="application/vnd.openxmlformats-officedocument.presentationml.slide+xml"/>
  <Override PartName="/ppt/tags/tag2.xml" ContentType="application/vnd.openxmlformats-officedocument.presentationml.tags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80" r:id="rId2"/>
    <p:sldId id="366" r:id="rId3"/>
    <p:sldId id="380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7" r:id="rId18"/>
    <p:sldId id="399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524"/>
    <a:srgbClr val="008000"/>
    <a:srgbClr val="385D8A"/>
    <a:srgbClr val="34495E"/>
    <a:srgbClr val="FDFDFD"/>
    <a:srgbClr val="EAEAEA"/>
    <a:srgbClr val="F8F8F8"/>
    <a:srgbClr val="FF6702"/>
    <a:srgbClr val="D6B580"/>
    <a:srgbClr val="F8E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88" autoAdjust="0"/>
    <p:restoredTop sz="94364" autoAdjust="0"/>
  </p:normalViewPr>
  <p:slideViewPr>
    <p:cSldViewPr>
      <p:cViewPr varScale="1">
        <p:scale>
          <a:sx n="70" d="100"/>
          <a:sy n="70" d="100"/>
        </p:scale>
        <p:origin x="127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2748" y="60"/>
      </p:cViewPr>
      <p:guideLst/>
    </p:cSldViewPr>
  </p:notesViewPr>
  <p:gridSpacing cx="36004" cy="36004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slide" Target="/ppt/slides/slide17.xml" Id="rId18" /><Relationship Type="http://schemas.openxmlformats.org/officeDocument/2006/relationships/tableStyles" Target="/ppt/tableStyles.xml" Id="rId26" /><Relationship Type="http://schemas.openxmlformats.org/officeDocument/2006/relationships/slide" Target="/ppt/slides/slide2.xml" Id="rId3" /><Relationship Type="http://schemas.openxmlformats.org/officeDocument/2006/relationships/notesMaster" Target="/ppt/notesMasters/notesMaster1.xml" Id="rId21" /><Relationship Type="http://schemas.openxmlformats.org/officeDocument/2006/relationships/slide" Target="/ppt/slides/slide6.xml" Id="rId7" /><Relationship Type="http://schemas.openxmlformats.org/officeDocument/2006/relationships/slide" Target="/ppt/slides/slide11.xml" Id="rId12" /><Relationship Type="http://schemas.openxmlformats.org/officeDocument/2006/relationships/slide" Target="/ppt/slides/slide16.xml" Id="rId17" /><Relationship Type="http://schemas.openxmlformats.org/officeDocument/2006/relationships/theme" Target="/ppt/theme/theme1.xml" Id="rId25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slide" Target="/ppt/slides/slide19.xml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viewProps" Target="/ppt/viewProps.xml" Id="rId24" /><Relationship Type="http://schemas.openxmlformats.org/officeDocument/2006/relationships/slide" Target="/ppt/slides/slide4.xml" Id="rId5" /><Relationship Type="http://schemas.openxmlformats.org/officeDocument/2006/relationships/slide" Target="/ppt/slides/slide14.xml" Id="rId15" /><Relationship Type="http://schemas.openxmlformats.org/officeDocument/2006/relationships/presProps" Target="/ppt/presProps.xml" Id="rId23" /><Relationship Type="http://schemas.openxmlformats.org/officeDocument/2006/relationships/slide" Target="/ppt/slides/slide9.xml" Id="rId10" /><Relationship Type="http://schemas.openxmlformats.org/officeDocument/2006/relationships/slide" Target="/ppt/slides/slide18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handoutMaster" Target="/ppt/handoutMasters/handoutMaster1.xml" Id="rId22" /></Relationships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theme/theme3.xml" Id="rId1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F5FD1-1E71-41C1-A531-EDAAD398F8D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8C08-2D65-44A0-8D9B-1CEE7EB8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6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10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1.xml" Id="rId2" /><Relationship Type="http://schemas.openxmlformats.org/officeDocument/2006/relationships/notesMaster" Target="/ppt/notesMasters/notesMaster1.xml" Id="rI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2.xml" Id="rId2" /><Relationship Type="http://schemas.openxmlformats.org/officeDocument/2006/relationships/notesMaster" Target="/ppt/notesMasters/notesMaster1.xml" Id="rI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3.xml" Id="rId2" /><Relationship Type="http://schemas.openxmlformats.org/officeDocument/2006/relationships/notesMaster" Target="/ppt/notesMasters/notesMaster1.xml" Id="rI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4.xml" Id="rId2" /><Relationship Type="http://schemas.openxmlformats.org/officeDocument/2006/relationships/notesMaster" Target="/ppt/notesMasters/notesMaster1.xml" Id="rI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5.xml" Id="rId2" /><Relationship Type="http://schemas.openxmlformats.org/officeDocument/2006/relationships/notesMaster" Target="/ppt/notesMasters/notesMaster1.xml" Id="rI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6.xml" Id="rId2" /><Relationship Type="http://schemas.openxmlformats.org/officeDocument/2006/relationships/notesMaster" Target="/ppt/notesMasters/notesMaster1.xml" Id="rI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7.xml" Id="rId2" /><Relationship Type="http://schemas.openxmlformats.org/officeDocument/2006/relationships/notesMaster" Target="/ppt/notesMasters/notesMaster1.xml" Id="rI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8.xml" Id="rId2" /><Relationship Type="http://schemas.openxmlformats.org/officeDocument/2006/relationships/notesMaster" Target="/ppt/notesMasters/notesMaster1.xml" Id="rI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9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2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5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8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3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73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27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19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43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41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24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32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56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09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10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02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74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5338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Department of Computer</a:t>
            </a:r>
            <a:r>
              <a:rPr lang="en-US" sz="1600" baseline="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Science and Engineering</a:t>
            </a:r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11"/>
          <p:cNvSpPr/>
          <p:nvPr userDrawn="1"/>
        </p:nvSpPr>
        <p:spPr>
          <a:xfrm>
            <a:off x="4572000" y="647749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da-DK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Rajalakshmi Engineering College 		</a:t>
            </a:r>
            <a:fld id="{6E8469F3-9EE8-43CF-BEDC-475B89412D1D}" type="slidenum">
              <a:rPr lang="da-DK" sz="1600" kern="1200" noProof="1" smtClean="0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5" r:id="rId7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jpeg" Id="rId3" /><Relationship Type="http://schemas.openxmlformats.org/officeDocument/2006/relationships/image" Target="/ppt/media/image1.jpg" Id="rId2" /><Relationship Type="http://schemas.openxmlformats.org/officeDocument/2006/relationships/slideLayout" Target="/ppt/slideLayouts/slideLayout7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3" /><Relationship Type="http://schemas.openxmlformats.org/officeDocument/2006/relationships/tags" Target="/ppt/tags/tag2.xml" Id="rId2" /><Relationship Type="http://schemas.openxmlformats.org/officeDocument/2006/relationships/themeOverride" Target="/ppt/theme/themeOverride1.xml" Id="rId1" /><Relationship Type="http://schemas.openxmlformats.org/officeDocument/2006/relationships/notesSlide" Target="/ppt/notesSlides/notesSlide2.xml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3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4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5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6.xml" Id="rId1" /><Relationship Type="http://schemas.openxmlformats.org/officeDocument/2006/relationships/image" Target="/ppt/media/image3.pn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7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8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9.xml" Id="rId1" /><Relationship Type="http://schemas.openxmlformats.org/officeDocument/2006/relationships/image" Target="/ppt/media/image4.png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notesSlide" Target="/ppt/notesSlides/notesSlide10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10.xml" Id="rId1" /><Relationship Type="http://schemas.openxmlformats.org/officeDocument/2006/relationships/image" Target="/ppt/media/image5.pn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notesSlide" Target="/ppt/notesSlides/notesSlide11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11.xml" Id="rId1" /><Relationship Type="http://schemas.openxmlformats.org/officeDocument/2006/relationships/image" Target="/ppt/media/image7.png" Id="rId5" /><Relationship Type="http://schemas.openxmlformats.org/officeDocument/2006/relationships/image" Target="/ppt/media/image6.png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12.xml" Id="rId1" /><Relationship Type="http://schemas.openxmlformats.org/officeDocument/2006/relationships/image" Target="/ppt/media/image8.png" Id="rI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13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14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5.xml" Id="rId3" /><Relationship Type="http://schemas.openxmlformats.org/officeDocument/2006/relationships/slideLayout" Target="/ppt/slideLayouts/slideLayout2.xml" Id="rId2" /><Relationship Type="http://schemas.openxmlformats.org/officeDocument/2006/relationships/tags" Target="/ppt/tags/tag15.xml" Id="rId1" /><Relationship Type="http://schemas.openxmlformats.org/officeDocument/2006/relationships/hyperlink" Target="rewritten://b9c9fc6c-e07c-4e28-9507-d7efc91440f7" TargetMode="External" Id="rId6" /><Relationship Type="http://schemas.openxmlformats.org/officeDocument/2006/relationships/hyperlink" Target="https://www.ijitee.org/wp-content/uploads/papers/v8i11/K21480981119.pdf" TargetMode="External" Id="rId5" /><Relationship Type="http://schemas.openxmlformats.org/officeDocument/2006/relationships/hyperlink" Target="https://ijcrt.org/papers/IJCRT2006516.pdf" TargetMode="External" Id="rI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Id2" /><Relationship Type="http://schemas.openxmlformats.org/officeDocument/2006/relationships/slideLayout" Target="/ppt/slideLayouts/slideLayout7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notesSlide" Target="/ppt/notesSlides/notesSlide17.xml" Id="rId2" /><Relationship Type="http://schemas.openxmlformats.org/officeDocument/2006/relationships/slideLayout" Target="/ppt/slideLayouts/slideLayout7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Id2" /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" t="63278" r="776" b="-30898"/>
          <a:stretch/>
        </p:blipFill>
        <p:spPr>
          <a:xfrm>
            <a:off x="-72010" y="-2532"/>
            <a:ext cx="9216010" cy="3231811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-14748" y="986564"/>
            <a:ext cx="9158748" cy="5392638"/>
            <a:chOff x="-14748" y="986564"/>
            <a:chExt cx="9158748" cy="5392638"/>
          </a:xfrm>
        </p:grpSpPr>
        <p:sp>
          <p:nvSpPr>
            <p:cNvPr id="22" name="TextBox 21"/>
            <p:cNvSpPr txBox="1"/>
            <p:nvPr/>
          </p:nvSpPr>
          <p:spPr>
            <a:xfrm>
              <a:off x="176058" y="5055763"/>
              <a:ext cx="507829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Roll No : 220701011</a:t>
              </a:r>
              <a:endParaRPr lang="en-US" sz="2000" b="1" dirty="0" smtClean="0"/>
            </a:p>
            <a:p>
              <a:r>
                <a:rPr lang="en-US" sz="2000" b="1" dirty="0" smtClean="0"/>
                <a:t>Name   : Abishek </a:t>
              </a:r>
              <a:r>
                <a:rPr lang="en-US" sz="2000" b="1" dirty="0" err="1" smtClean="0"/>
                <a:t>Sounderajan</a:t>
              </a:r>
              <a:r>
                <a:rPr lang="en-US" sz="2000" b="1" dirty="0" smtClean="0"/>
                <a:t> Rajesh</a:t>
              </a:r>
            </a:p>
            <a:p>
              <a:r>
                <a:rPr lang="en-US" sz="2000" b="1" dirty="0" smtClean="0"/>
                <a:t>Guide   : </a:t>
              </a:r>
              <a:r>
                <a:rPr lang="en-US" sz="2000" b="1" dirty="0" err="1" smtClean="0"/>
                <a:t>Ms.U.Farjana</a:t>
              </a:r>
              <a:endParaRPr lang="en-US" sz="2000" b="1" dirty="0" smtClean="0"/>
            </a:p>
            <a:p>
              <a:r>
                <a:rPr lang="en-US" sz="2000" b="1" dirty="0" err="1" smtClean="0"/>
                <a:t>Dept</a:t>
              </a:r>
              <a:r>
                <a:rPr lang="en-US" sz="2000" b="1" dirty="0" smtClean="0"/>
                <a:t>     : Computer </a:t>
              </a:r>
              <a:r>
                <a:rPr lang="en-US" sz="2000" b="1" dirty="0" smtClean="0"/>
                <a:t>Science and Engineering</a:t>
              </a:r>
              <a:endParaRPr lang="en-US" sz="2000" b="1" dirty="0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-14748" y="986564"/>
              <a:ext cx="9158748" cy="3628907"/>
              <a:chOff x="-14748" y="986564"/>
              <a:chExt cx="9158748" cy="3628907"/>
            </a:xfrm>
          </p:grpSpPr>
          <p:sp>
            <p:nvSpPr>
              <p:cNvPr id="45" name="Freeform 44"/>
              <p:cNvSpPr/>
              <p:nvPr/>
            </p:nvSpPr>
            <p:spPr>
              <a:xfrm>
                <a:off x="5003203" y="1761199"/>
                <a:ext cx="4140797" cy="2622445"/>
              </a:xfrm>
              <a:custGeom>
                <a:avLst/>
                <a:gdLst>
                  <a:gd name="connsiteX0" fmla="*/ 1 w 4140797"/>
                  <a:gd name="connsiteY0" fmla="*/ 0 h 2622445"/>
                  <a:gd name="connsiteX1" fmla="*/ 4140797 w 4140797"/>
                  <a:gd name="connsiteY1" fmla="*/ 0 h 2622445"/>
                  <a:gd name="connsiteX2" fmla="*/ 4140797 w 4140797"/>
                  <a:gd name="connsiteY2" fmla="*/ 2622445 h 2622445"/>
                  <a:gd name="connsiteX3" fmla="*/ 0 w 4140797"/>
                  <a:gd name="connsiteY3" fmla="*/ 2622445 h 2622445"/>
                  <a:gd name="connsiteX4" fmla="*/ 1311223 w 4140797"/>
                  <a:gd name="connsiteY4" fmla="*/ 1311222 h 2622445"/>
                  <a:gd name="connsiteX5" fmla="*/ 1 w 4140797"/>
                  <a:gd name="connsiteY5" fmla="*/ 0 h 262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40797" h="2622445">
                    <a:moveTo>
                      <a:pt x="1" y="0"/>
                    </a:moveTo>
                    <a:lnTo>
                      <a:pt x="4140797" y="0"/>
                    </a:lnTo>
                    <a:lnTo>
                      <a:pt x="4140797" y="2622445"/>
                    </a:lnTo>
                    <a:lnTo>
                      <a:pt x="0" y="2622445"/>
                    </a:lnTo>
                    <a:lnTo>
                      <a:pt x="1311223" y="13112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A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Pentagon 45"/>
              <p:cNvSpPr/>
              <p:nvPr/>
            </p:nvSpPr>
            <p:spPr>
              <a:xfrm>
                <a:off x="0" y="1529371"/>
                <a:ext cx="5743977" cy="3086100"/>
              </a:xfrm>
              <a:prstGeom prst="homePlate">
                <a:avLst/>
              </a:prstGeom>
              <a:solidFill>
                <a:srgbClr val="59595B"/>
              </a:solidFill>
              <a:ln>
                <a:solidFill>
                  <a:srgbClr val="59595B"/>
                </a:solidFill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-14748" y="986564"/>
                <a:ext cx="4014973" cy="1075928"/>
                <a:chOff x="-19391" y="1011603"/>
                <a:chExt cx="5278947" cy="1075928"/>
              </a:xfrm>
            </p:grpSpPr>
            <p:sp>
              <p:nvSpPr>
                <p:cNvPr id="51" name="Pentagon 50"/>
                <p:cNvSpPr/>
                <p:nvPr/>
              </p:nvSpPr>
              <p:spPr>
                <a:xfrm>
                  <a:off x="-19391" y="1011603"/>
                  <a:ext cx="5278947" cy="1075928"/>
                </a:xfrm>
                <a:prstGeom prst="homePlate">
                  <a:avLst/>
                </a:prstGeom>
                <a:solidFill>
                  <a:srgbClr val="00AAAD"/>
                </a:solidFill>
                <a:ln>
                  <a:noFill/>
                </a:ln>
                <a:effectLst>
                  <a:outerShdw blurRad="50800" dist="38100" algn="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37041" y="1195624"/>
                  <a:ext cx="4181886" cy="70788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2000" b="1" dirty="0" smtClean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Introduction to </a:t>
                  </a:r>
                </a:p>
                <a:p>
                  <a:pPr algn="ctr"/>
                  <a:r>
                    <a:rPr lang="en-US" sz="2000" b="1" dirty="0" smtClean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Robotic Process Automation </a:t>
                  </a:r>
                  <a:endParaRPr lang="en-US" sz="2000" b="1" dirty="0">
                    <a:solidFill>
                      <a:schemeClr val="bg1"/>
                    </a:solidFill>
                    <a:ea typeface="Open Sans Light" panose="020B0306030504020204" pitchFamily="34" charset="0"/>
                    <a:cs typeface="Open Sans Light" panose="020B0306030504020204" pitchFamily="34" charset="0"/>
                  </a:endParaRPr>
                </a:p>
              </p:txBody>
            </p:sp>
          </p:grpSp>
          <p:sp>
            <p:nvSpPr>
              <p:cNvPr id="48" name="TextBox 47"/>
              <p:cNvSpPr txBox="1"/>
              <p:nvPr/>
            </p:nvSpPr>
            <p:spPr>
              <a:xfrm>
                <a:off x="177782" y="2100903"/>
                <a:ext cx="543833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5400" b="1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defRPr>
                </a:lvl1pPr>
              </a:lstStyle>
              <a:p>
                <a:r>
                  <a:rPr lang="en-US" sz="4800" dirty="0"/>
                  <a:t>AUTOMATED CHATBOT TRAINING SYSTEM</a:t>
                </a:r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4652237" y="1529372"/>
                <a:ext cx="1672363" cy="3086099"/>
              </a:xfrm>
              <a:custGeom>
                <a:avLst/>
                <a:gdLst>
                  <a:gd name="connsiteX0" fmla="*/ 0 w 1672363"/>
                  <a:gd name="connsiteY0" fmla="*/ 0 h 3086099"/>
                  <a:gd name="connsiteX1" fmla="*/ 129314 w 1672363"/>
                  <a:gd name="connsiteY1" fmla="*/ 0 h 3086099"/>
                  <a:gd name="connsiteX2" fmla="*/ 1672363 w 1672363"/>
                  <a:gd name="connsiteY2" fmla="*/ 1543050 h 3086099"/>
                  <a:gd name="connsiteX3" fmla="*/ 129314 w 1672363"/>
                  <a:gd name="connsiteY3" fmla="*/ 3086099 h 3086099"/>
                  <a:gd name="connsiteX4" fmla="*/ 0 w 1672363"/>
                  <a:gd name="connsiteY4" fmla="*/ 3086099 h 3086099"/>
                  <a:gd name="connsiteX5" fmla="*/ 1543049 w 1672363"/>
                  <a:gd name="connsiteY5" fmla="*/ 1543050 h 3086099"/>
                  <a:gd name="connsiteX6" fmla="*/ 0 w 1672363"/>
                  <a:gd name="connsiteY6" fmla="*/ 0 h 3086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363" h="3086099">
                    <a:moveTo>
                      <a:pt x="0" y="0"/>
                    </a:moveTo>
                    <a:lnTo>
                      <a:pt x="129314" y="0"/>
                    </a:lnTo>
                    <a:lnTo>
                      <a:pt x="1672363" y="1543050"/>
                    </a:lnTo>
                    <a:lnTo>
                      <a:pt x="129314" y="3086099"/>
                    </a:lnTo>
                    <a:lnTo>
                      <a:pt x="0" y="3086099"/>
                    </a:lnTo>
                    <a:lnTo>
                      <a:pt x="1543049" y="1543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6A9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284" y="4441459"/>
            <a:ext cx="1813542" cy="15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6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Abstract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900" dirty="0"/>
              <a:t>The “</a:t>
            </a:r>
            <a:r>
              <a:rPr lang="en-US" sz="1900" b="1" dirty="0"/>
              <a:t>Automated </a:t>
            </a:r>
            <a:r>
              <a:rPr lang="en-US" sz="1900" b="1" dirty="0" err="1"/>
              <a:t>Chatbot</a:t>
            </a:r>
            <a:r>
              <a:rPr lang="en-US" sz="1900" b="1" dirty="0"/>
              <a:t> Training System” </a:t>
            </a:r>
            <a:r>
              <a:rPr lang="en-US" sz="1900" dirty="0"/>
              <a:t>is an innovative Robotic Process Automation (RPA) solution that simplifies and accelerates the process of training </a:t>
            </a:r>
            <a:r>
              <a:rPr lang="en-US" sz="1900" dirty="0" err="1"/>
              <a:t>chatbots</a:t>
            </a:r>
            <a:r>
              <a:rPr lang="en-US" sz="1900" dirty="0"/>
              <a:t> by integrating </a:t>
            </a:r>
            <a:r>
              <a:rPr lang="en-US" sz="1900" dirty="0" err="1"/>
              <a:t>UiPath</a:t>
            </a:r>
            <a:r>
              <a:rPr lang="en-US" sz="1900" dirty="0"/>
              <a:t> Studio with </a:t>
            </a:r>
            <a:r>
              <a:rPr lang="en-US" sz="1900" dirty="0" err="1"/>
              <a:t>Dialogflow</a:t>
            </a:r>
            <a:r>
              <a:rPr lang="en-US" sz="1900" dirty="0"/>
              <a:t>. This automation ensures consistent and efficient management of intents and training phrases, significantly reducing manual effort and human error. The system leverages </a:t>
            </a:r>
            <a:r>
              <a:rPr lang="en-US" sz="1900" dirty="0" err="1"/>
              <a:t>UiPath</a:t>
            </a:r>
            <a:r>
              <a:rPr lang="en-US" sz="1900" dirty="0"/>
              <a:t> workflows to automate repetitive steps, such as creating intents, adding training phrases, and managing responses, enabling users to focus on improving </a:t>
            </a:r>
            <a:r>
              <a:rPr lang="en-US" sz="1900" dirty="0" err="1"/>
              <a:t>chatbot</a:t>
            </a:r>
            <a:r>
              <a:rPr lang="en-US" sz="1900" dirty="0"/>
              <a:t> accuracy and user experience. It allows developers to manage large datasets efficiently, handle batch processing seamlessly, and ensure data accuracy through robust validation mechanisms. With its modular design and error-handling capabilities, the system enhances productivity, enabling organizations to develop scalable and user-friendly </a:t>
            </a:r>
            <a:r>
              <a:rPr lang="en-US" sz="1900" dirty="0" err="1"/>
              <a:t>chatbots</a:t>
            </a:r>
            <a:r>
              <a:rPr lang="en-US" sz="1900" dirty="0"/>
              <a:t> suitable for diverse applications, from customer service to healthcare. </a:t>
            </a:r>
            <a:r>
              <a:rPr lang="en-US" sz="1900" dirty="0" err="1"/>
              <a:t>Chatbots</a:t>
            </a:r>
            <a:r>
              <a:rPr lang="en-US" sz="1900" dirty="0"/>
              <a:t> have become indispensable tools across industries for automating interactions and improving customer experiences. However, training </a:t>
            </a:r>
            <a:r>
              <a:rPr lang="en-US" sz="1900" dirty="0" err="1"/>
              <a:t>chatbots</a:t>
            </a:r>
            <a:r>
              <a:rPr lang="en-US" sz="1900" dirty="0"/>
              <a:t> to handle a variety of queries typically involves a tedious and error-prone process of manually creating intents, entering training phrases, and associating appropriate </a:t>
            </a:r>
            <a:r>
              <a:rPr lang="en-US" sz="1900" dirty="0" smtClean="0"/>
              <a:t>responses.</a:t>
            </a:r>
            <a:endParaRPr lang="en-US" sz="19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040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for the Proposed System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ts val="3086"/>
              </a:lnSpc>
              <a:buNone/>
            </a:pPr>
            <a:r>
              <a:rPr lang="en-US" sz="1900" dirty="0"/>
              <a:t>For </a:t>
            </a:r>
            <a:r>
              <a:rPr lang="en-US" sz="1900" dirty="0" err="1"/>
              <a:t>chatbot</a:t>
            </a:r>
            <a:r>
              <a:rPr lang="en-US" sz="1900" dirty="0"/>
              <a:t> developers and organizations managing extensive datasets, this system offers a transformative approach. By automating the creation of intents, updating training phrases, and assigning responses in </a:t>
            </a:r>
            <a:r>
              <a:rPr lang="en-US" sz="1900" dirty="0" err="1"/>
              <a:t>Dialogflow</a:t>
            </a:r>
            <a:r>
              <a:rPr lang="en-US" sz="1900" dirty="0"/>
              <a:t>, it minimizes manual intervention while maintaining high precision. </a:t>
            </a:r>
            <a:r>
              <a:rPr lang="en-US" sz="1900" dirty="0">
                <a:sym typeface="Public Sans Medium"/>
              </a:rPr>
              <a:t>To address the overload of repetitive student inquiries, we will develop an AI-powered </a:t>
            </a:r>
            <a:r>
              <a:rPr lang="en-US" sz="1900" dirty="0" err="1">
                <a:sym typeface="Public Sans Medium"/>
              </a:rPr>
              <a:t>chatbot</a:t>
            </a:r>
            <a:r>
              <a:rPr lang="en-US" sz="1900" dirty="0">
                <a:sym typeface="Public Sans Medium"/>
              </a:rPr>
              <a:t> using </a:t>
            </a:r>
            <a:r>
              <a:rPr lang="en-US" sz="1900" dirty="0" err="1">
                <a:sym typeface="Public Sans Medium"/>
              </a:rPr>
              <a:t>UiPath</a:t>
            </a:r>
            <a:r>
              <a:rPr lang="en-US" sz="1900" dirty="0">
                <a:sym typeface="Public Sans Medium"/>
              </a:rPr>
              <a:t> Studio's Language Understanding Model. The solution will include:</a:t>
            </a:r>
          </a:p>
          <a:p>
            <a:pPr marL="453388" lvl="1" indent="-226694" algn="just">
              <a:lnSpc>
                <a:spcPts val="3086"/>
              </a:lnSpc>
              <a:buAutoNum type="arabicPeriod"/>
            </a:pPr>
            <a:r>
              <a:rPr lang="en-US" sz="1900" dirty="0" err="1">
                <a:sym typeface="Public Sans Bold"/>
              </a:rPr>
              <a:t>Chatbot</a:t>
            </a:r>
            <a:r>
              <a:rPr lang="en-US" sz="1900" dirty="0">
                <a:sym typeface="Public Sans Bold"/>
              </a:rPr>
              <a:t> Development.</a:t>
            </a:r>
          </a:p>
          <a:p>
            <a:pPr marL="453388" lvl="1" indent="-226694" algn="just">
              <a:lnSpc>
                <a:spcPts val="3086"/>
              </a:lnSpc>
              <a:buAutoNum type="arabicPeriod"/>
            </a:pPr>
            <a:r>
              <a:rPr lang="en-US" sz="1900" dirty="0">
                <a:sym typeface="Public Sans Bold"/>
              </a:rPr>
              <a:t>Multi-channel Integration</a:t>
            </a:r>
          </a:p>
          <a:p>
            <a:pPr marL="453388" lvl="1" indent="-226694" algn="just">
              <a:lnSpc>
                <a:spcPts val="3086"/>
              </a:lnSpc>
              <a:buAutoNum type="arabicPeriod"/>
            </a:pPr>
            <a:r>
              <a:rPr lang="en-US" sz="1900" dirty="0">
                <a:sym typeface="Public Sans Bold"/>
              </a:rPr>
              <a:t>Intelligent Responses</a:t>
            </a:r>
          </a:p>
          <a:p>
            <a:pPr marL="453388" lvl="1" indent="-226694" algn="just">
              <a:lnSpc>
                <a:spcPts val="3086"/>
              </a:lnSpc>
              <a:buAutoNum type="arabicPeriod"/>
            </a:pPr>
            <a:r>
              <a:rPr lang="en-US" sz="1900" dirty="0">
                <a:sym typeface="Public Sans Bold"/>
              </a:rPr>
              <a:t>Continuous Improvement</a:t>
            </a:r>
          </a:p>
          <a:p>
            <a:pPr marL="453388" lvl="1" indent="-226694" algn="just">
              <a:lnSpc>
                <a:spcPts val="3086"/>
              </a:lnSpc>
              <a:buAutoNum type="arabicPeriod"/>
            </a:pPr>
            <a:r>
              <a:rPr lang="en-US" sz="1900" dirty="0">
                <a:sym typeface="Public Sans Bold"/>
              </a:rPr>
              <a:t>Testing and Deployment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548485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the Proposed System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1850" dirty="0"/>
              <a:t>Efficiency and Time-Saving:</a:t>
            </a:r>
          </a:p>
          <a:p>
            <a:pPr lvl="1" algn="just"/>
            <a:r>
              <a:rPr lang="en-US" sz="1850" dirty="0"/>
              <a:t>Automates the creation and management of intents, training phrases, and responses, significantly reducing the time required for manual input.</a:t>
            </a:r>
          </a:p>
          <a:p>
            <a:pPr lvl="1" algn="just"/>
            <a:r>
              <a:rPr lang="en-US" sz="1850" dirty="0"/>
              <a:t>Streamlines repetitive tasks, enabling faster </a:t>
            </a:r>
            <a:r>
              <a:rPr lang="en-US" sz="1850" dirty="0" err="1"/>
              <a:t>chatbot</a:t>
            </a:r>
            <a:r>
              <a:rPr lang="en-US" sz="1850" dirty="0"/>
              <a:t> deployment and updates.</a:t>
            </a:r>
          </a:p>
          <a:p>
            <a:pPr algn="just"/>
            <a:r>
              <a:rPr lang="en-US" sz="1850" dirty="0"/>
              <a:t>Scalability:</a:t>
            </a:r>
          </a:p>
          <a:p>
            <a:pPr lvl="1" algn="just"/>
            <a:r>
              <a:rPr lang="en-US" sz="1850" dirty="0"/>
              <a:t>Facilitates large-scale </a:t>
            </a:r>
            <a:r>
              <a:rPr lang="en-US" sz="1850" dirty="0" err="1"/>
              <a:t>chatbot</a:t>
            </a:r>
            <a:r>
              <a:rPr lang="en-US" sz="1850" dirty="0"/>
              <a:t> development by handling extensive datasets and automating training processes, making it suitable for businesses with diverse requirements.</a:t>
            </a:r>
          </a:p>
          <a:p>
            <a:pPr lvl="1" algn="just"/>
            <a:r>
              <a:rPr lang="en-US" sz="1850" dirty="0"/>
              <a:t>Ensures consistent performance across multiple domains or languages.</a:t>
            </a:r>
          </a:p>
          <a:p>
            <a:pPr algn="just"/>
            <a:r>
              <a:rPr lang="en-US" sz="1850" dirty="0"/>
              <a:t>Accuracy and Consistency:</a:t>
            </a:r>
          </a:p>
          <a:p>
            <a:pPr lvl="1" algn="just"/>
            <a:r>
              <a:rPr lang="en-US" sz="1850" dirty="0"/>
              <a:t>Reduces human errors in intent creation and testing, ensuring uniformity in </a:t>
            </a:r>
            <a:r>
              <a:rPr lang="en-US" sz="1850" dirty="0" err="1"/>
              <a:t>chatbot</a:t>
            </a:r>
            <a:r>
              <a:rPr lang="en-US" sz="1850" dirty="0"/>
              <a:t> responses.</a:t>
            </a:r>
          </a:p>
          <a:p>
            <a:pPr algn="just"/>
            <a:r>
              <a:rPr lang="en-US" sz="1850" dirty="0" smtClean="0"/>
              <a:t>Integration </a:t>
            </a:r>
            <a:r>
              <a:rPr lang="en-US" sz="1850" dirty="0"/>
              <a:t>with </a:t>
            </a:r>
            <a:r>
              <a:rPr lang="en-US" sz="1850" dirty="0" err="1"/>
              <a:t>Dialogflow</a:t>
            </a:r>
            <a:r>
              <a:rPr lang="en-US" sz="1850" dirty="0"/>
              <a:t>:</a:t>
            </a:r>
          </a:p>
          <a:p>
            <a:pPr lvl="1" algn="just"/>
            <a:r>
              <a:rPr lang="en-US" sz="1850" dirty="0"/>
              <a:t>Seamlessly interfaces with </a:t>
            </a:r>
            <a:r>
              <a:rPr lang="en-US" sz="1850" dirty="0" err="1"/>
              <a:t>Dialogflow</a:t>
            </a:r>
            <a:r>
              <a:rPr lang="en-US" sz="1850" dirty="0"/>
              <a:t> to train and manage </a:t>
            </a:r>
            <a:r>
              <a:rPr lang="en-US" sz="1850" dirty="0" err="1"/>
              <a:t>chatbots</a:t>
            </a:r>
            <a:r>
              <a:rPr lang="en-US" sz="1850" dirty="0"/>
              <a:t>, leveraging its advanced natural language processing (NLP) capabilities</a:t>
            </a:r>
            <a:r>
              <a:rPr lang="en-US" sz="1850" dirty="0" smtClean="0"/>
              <a:t>.</a:t>
            </a:r>
            <a:endParaRPr lang="en-US" sz="18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30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Survey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Paper 1: "Leveraging Robotic Process Automation (RPA) in </a:t>
            </a:r>
            <a:r>
              <a:rPr lang="en-US" b="1" dirty="0" err="1"/>
              <a:t>Chatbot</a:t>
            </a:r>
            <a:r>
              <a:rPr lang="en-US" b="1" dirty="0"/>
              <a:t> Training and Intent Management"</a:t>
            </a:r>
          </a:p>
          <a:p>
            <a:pPr marL="0" indent="0">
              <a:buNone/>
            </a:pPr>
            <a:r>
              <a:rPr lang="en-US" b="1" dirty="0"/>
              <a:t>Advantages:</a:t>
            </a:r>
            <a:endParaRPr lang="en-US" dirty="0"/>
          </a:p>
          <a:p>
            <a:pPr lvl="1"/>
            <a:r>
              <a:rPr lang="en-US" dirty="0"/>
              <a:t>Automates repetitive tasks such as intent creation, training data input, and response mapping, reducing manual errors.</a:t>
            </a:r>
          </a:p>
          <a:p>
            <a:pPr lvl="1"/>
            <a:r>
              <a:rPr lang="en-US" dirty="0"/>
              <a:t>Enhances </a:t>
            </a:r>
            <a:r>
              <a:rPr lang="en-US" dirty="0" err="1"/>
              <a:t>chatbot</a:t>
            </a:r>
            <a:r>
              <a:rPr lang="en-US" dirty="0"/>
              <a:t> scalability by streamlining updates and training across multiple languages or domains.</a:t>
            </a:r>
          </a:p>
          <a:p>
            <a:pPr lvl="1"/>
            <a:r>
              <a:rPr lang="en-US" dirty="0"/>
              <a:t>Increases efficiency, allowing developers to focus on improving conversational logic and user experience.</a:t>
            </a:r>
          </a:p>
          <a:p>
            <a:pPr marL="0" indent="0">
              <a:buNone/>
            </a:pPr>
            <a:r>
              <a:rPr lang="en-US" b="1" dirty="0"/>
              <a:t>Disadvantages:</a:t>
            </a:r>
            <a:endParaRPr lang="en-US" dirty="0"/>
          </a:p>
          <a:p>
            <a:pPr lvl="1"/>
            <a:r>
              <a:rPr lang="en-US" dirty="0"/>
              <a:t>Limited adaptability for context-sensitive interactions requiring nuanced understanding.</a:t>
            </a:r>
          </a:p>
          <a:p>
            <a:pPr lvl="1"/>
            <a:r>
              <a:rPr lang="en-US" dirty="0"/>
              <a:t>High dependency on structured datasets; struggles with unstructured input data during automation.</a:t>
            </a:r>
          </a:p>
          <a:p>
            <a:pPr lvl="1"/>
            <a:r>
              <a:rPr lang="en-US" dirty="0"/>
              <a:t>Initial implementation requires significant time and technical expertise for configuring RPA workflows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Paper 2: "Challenges and Solutions in Automating </a:t>
            </a:r>
            <a:r>
              <a:rPr lang="en-US" b="1" dirty="0" err="1"/>
              <a:t>Chatbot</a:t>
            </a:r>
            <a:r>
              <a:rPr lang="en-US" b="1" dirty="0"/>
              <a:t> Scalability Using RPA"</a:t>
            </a:r>
          </a:p>
          <a:p>
            <a:pPr marL="0" indent="0">
              <a:buNone/>
            </a:pPr>
            <a:r>
              <a:rPr lang="en-US" b="1" dirty="0"/>
              <a:t>Advantages:</a:t>
            </a:r>
            <a:endParaRPr lang="en-US" dirty="0"/>
          </a:p>
          <a:p>
            <a:pPr lvl="1"/>
            <a:r>
              <a:rPr lang="en-US" dirty="0"/>
              <a:t>Enables rapid deployment of </a:t>
            </a:r>
            <a:r>
              <a:rPr lang="en-US" dirty="0" err="1"/>
              <a:t>chatbots</a:t>
            </a:r>
            <a:r>
              <a:rPr lang="en-US" dirty="0"/>
              <a:t> in multiple domains by automating data preprocessing and intent classification.</a:t>
            </a:r>
          </a:p>
          <a:p>
            <a:pPr lvl="1"/>
            <a:r>
              <a:rPr lang="en-US" dirty="0"/>
              <a:t>Reduces operational costs by minimizing human intervention in routine </a:t>
            </a:r>
            <a:r>
              <a:rPr lang="en-US" dirty="0" err="1"/>
              <a:t>chatbot</a:t>
            </a:r>
            <a:r>
              <a:rPr lang="en-US" dirty="0"/>
              <a:t> maintenance tasks.</a:t>
            </a:r>
          </a:p>
          <a:p>
            <a:pPr lvl="1"/>
            <a:r>
              <a:rPr lang="en-US" dirty="0"/>
              <a:t>Improves accuracy and consistency in conversational flows by automating version control and rollback mechanisms.</a:t>
            </a:r>
          </a:p>
          <a:p>
            <a:pPr marL="0" indent="0">
              <a:buNone/>
            </a:pPr>
            <a:r>
              <a:rPr lang="en-US" b="1" dirty="0"/>
              <a:t>Disadvantages:</a:t>
            </a:r>
            <a:endParaRPr lang="en-US" dirty="0"/>
          </a:p>
          <a:p>
            <a:pPr lvl="1"/>
            <a:r>
              <a:rPr lang="en-US" dirty="0"/>
              <a:t>Scalability issues in handling domain-specific datasets with complex conversational structures.</a:t>
            </a:r>
          </a:p>
          <a:p>
            <a:pPr lvl="1"/>
            <a:r>
              <a:rPr lang="en-US" dirty="0"/>
              <a:t>Dependence on external APIs for integrations can lead to delays if API performance is suboptimal.</a:t>
            </a:r>
          </a:p>
          <a:p>
            <a:pPr lvl="1"/>
            <a:r>
              <a:rPr lang="en-US" dirty="0"/>
              <a:t>Ethical considerations in using automated systems for customer-facing applications without human oversight.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43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Main Objective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The primary objective of "Automating </a:t>
            </a:r>
            <a:r>
              <a:rPr lang="en-US" sz="1900" dirty="0" err="1"/>
              <a:t>Chatbot</a:t>
            </a:r>
            <a:r>
              <a:rPr lang="en-US" sz="1900" dirty="0"/>
              <a:t> Training with </a:t>
            </a:r>
            <a:r>
              <a:rPr lang="en-US" sz="1900" dirty="0" err="1"/>
              <a:t>UiPath</a:t>
            </a:r>
            <a:r>
              <a:rPr lang="en-US" sz="1900" dirty="0"/>
              <a:t> and </a:t>
            </a:r>
            <a:r>
              <a:rPr lang="en-US" sz="1900" dirty="0" err="1"/>
              <a:t>Dialogflow</a:t>
            </a:r>
            <a:r>
              <a:rPr lang="en-US" sz="1900" dirty="0"/>
              <a:t>" is to revolutionize the </a:t>
            </a:r>
            <a:r>
              <a:rPr lang="en-US" sz="1900" dirty="0" err="1"/>
              <a:t>chatbot</a:t>
            </a:r>
            <a:r>
              <a:rPr lang="en-US" sz="1900" dirty="0"/>
              <a:t> development and training process. By leveraging Robotic Process Automation (RPA), this project aims to automate the creation of intents, the addition of training phrases, and the assignment of responses in </a:t>
            </a:r>
            <a:r>
              <a:rPr lang="en-US" sz="1900" dirty="0" err="1"/>
              <a:t>Dialogflow</a:t>
            </a:r>
            <a:r>
              <a:rPr lang="en-US" sz="1900" dirty="0"/>
              <a:t>. The goal is to provide </a:t>
            </a:r>
            <a:r>
              <a:rPr lang="en-US" sz="1900" dirty="0" err="1"/>
              <a:t>chatbot</a:t>
            </a:r>
            <a:r>
              <a:rPr lang="en-US" sz="1900" dirty="0"/>
              <a:t> developers and organizations with a highly efficient, accurate, and scalable </a:t>
            </a:r>
            <a:r>
              <a:rPr lang="en-US" sz="1900" dirty="0" smtClean="0"/>
              <a:t>solution </a:t>
            </a:r>
            <a:r>
              <a:rPr lang="en-US" sz="1900" dirty="0"/>
              <a:t>for managing large datasets and ensuring consistent training</a:t>
            </a:r>
            <a:r>
              <a:rPr lang="en-US" sz="1900" dirty="0" smtClean="0"/>
              <a:t>. </a:t>
            </a:r>
            <a:r>
              <a:rPr lang="en-US" sz="1900" dirty="0"/>
              <a:t>The "Automating </a:t>
            </a:r>
            <a:r>
              <a:rPr lang="en-US" sz="1900" dirty="0" err="1"/>
              <a:t>Chatbot</a:t>
            </a:r>
            <a:r>
              <a:rPr lang="en-US" sz="1900" dirty="0"/>
              <a:t> Training with </a:t>
            </a:r>
            <a:r>
              <a:rPr lang="en-US" sz="1900" dirty="0" err="1"/>
              <a:t>UiPath</a:t>
            </a:r>
            <a:r>
              <a:rPr lang="en-US" sz="1900" dirty="0"/>
              <a:t> and </a:t>
            </a:r>
            <a:r>
              <a:rPr lang="en-US" sz="1900" dirty="0" err="1"/>
              <a:t>Dialogflow</a:t>
            </a:r>
            <a:r>
              <a:rPr lang="en-US" sz="1900" dirty="0"/>
              <a:t>" system is designed as a transformative solution to address the inefficiencies in training conversational AI. By leveraging </a:t>
            </a:r>
            <a:r>
              <a:rPr lang="en-US" sz="1900" dirty="0" err="1"/>
              <a:t>UiPath's</a:t>
            </a:r>
            <a:r>
              <a:rPr lang="en-US" sz="1900" dirty="0"/>
              <a:t> RPA capabilities, the proposed system automates the creation of intents, the addition of training phrases, and the assignment of responses within </a:t>
            </a:r>
            <a:r>
              <a:rPr lang="en-US" sz="1900" dirty="0" err="1"/>
              <a:t>Dialogflow</a:t>
            </a:r>
            <a:r>
              <a:rPr lang="en-US" sz="1900" dirty="0"/>
              <a:t>. It systematically processes datasets, validates their format, and interacts with </a:t>
            </a:r>
            <a:r>
              <a:rPr lang="en-US" sz="1900" dirty="0" err="1"/>
              <a:t>Dialogflow</a:t>
            </a:r>
            <a:r>
              <a:rPr lang="en-US" sz="1900" dirty="0"/>
              <a:t> APIs to update </a:t>
            </a:r>
            <a:r>
              <a:rPr lang="en-US" sz="1900" dirty="0" err="1"/>
              <a:t>chatbot</a:t>
            </a:r>
            <a:r>
              <a:rPr lang="en-US" sz="1900" dirty="0"/>
              <a:t> configurations efficiently.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57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Architecture</a:t>
            </a:r>
            <a:endParaRPr lang="en-IN" dirty="0">
              <a:latin typeface="+mj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99792" y="980728"/>
            <a:ext cx="3744416" cy="5334000"/>
          </a:xfrm>
          <a:custGeom>
            <a:avLst/>
            <a:gdLst/>
            <a:ahLst/>
            <a:cxnLst/>
            <a:rect l="l" t="t" r="r" b="b"/>
            <a:pathLst>
              <a:path w="4733263" h="8246231">
                <a:moveTo>
                  <a:pt x="0" y="0"/>
                </a:moveTo>
                <a:lnTo>
                  <a:pt x="4733263" y="0"/>
                </a:lnTo>
                <a:lnTo>
                  <a:pt x="4733263" y="8246231"/>
                </a:lnTo>
                <a:lnTo>
                  <a:pt x="0" y="8246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22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Requirements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500" b="1" dirty="0"/>
              <a:t>Hardware Requirements: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500" b="1" dirty="0"/>
              <a:t>For Development and Execution:</a:t>
            </a:r>
            <a:endParaRPr lang="en-US" sz="1500" dirty="0"/>
          </a:p>
          <a:p>
            <a:pPr lvl="1" algn="just">
              <a:lnSpc>
                <a:spcPct val="100000"/>
              </a:lnSpc>
            </a:pPr>
            <a:r>
              <a:rPr lang="en-US" sz="1500" b="1" dirty="0"/>
              <a:t>Processor:</a:t>
            </a:r>
            <a:r>
              <a:rPr lang="en-US" sz="1500" dirty="0"/>
              <a:t> Intel Core i5 or higher (or equivalent AMD Ryzen 5 or above)</a:t>
            </a:r>
          </a:p>
          <a:p>
            <a:pPr lvl="1" algn="just">
              <a:lnSpc>
                <a:spcPct val="100000"/>
              </a:lnSpc>
            </a:pPr>
            <a:r>
              <a:rPr lang="en-US" sz="1500" b="1" dirty="0"/>
              <a:t>RAM:</a:t>
            </a:r>
            <a:r>
              <a:rPr lang="en-US" sz="1500" dirty="0"/>
              <a:t> Minimum 8 GB (16 GB recommended for better </a:t>
            </a:r>
            <a:r>
              <a:rPr lang="en-US" sz="1500" dirty="0" smtClean="0"/>
              <a:t>performance)</a:t>
            </a:r>
            <a:endParaRPr lang="en-US" sz="1500" dirty="0"/>
          </a:p>
          <a:p>
            <a:pPr lvl="1" algn="just">
              <a:lnSpc>
                <a:spcPct val="100000"/>
              </a:lnSpc>
            </a:pPr>
            <a:r>
              <a:rPr lang="en-US" sz="1500" b="1" dirty="0"/>
              <a:t>Storage:</a:t>
            </a:r>
            <a:r>
              <a:rPr lang="en-US" sz="1500" dirty="0"/>
              <a:t> 256 GB SSD or </a:t>
            </a:r>
            <a:r>
              <a:rPr lang="en-US" sz="1500" dirty="0" smtClean="0"/>
              <a:t>higher</a:t>
            </a:r>
            <a:endParaRPr lang="en-US" sz="1500" dirty="0"/>
          </a:p>
          <a:p>
            <a:pPr lvl="1" algn="just">
              <a:lnSpc>
                <a:spcPct val="100000"/>
              </a:lnSpc>
            </a:pPr>
            <a:r>
              <a:rPr lang="en-US" sz="1500" b="1" dirty="0"/>
              <a:t>Graphics Card:</a:t>
            </a:r>
            <a:r>
              <a:rPr lang="en-US" sz="1500" dirty="0"/>
              <a:t> Integrated or Dedicated </a:t>
            </a:r>
            <a:r>
              <a:rPr lang="en-US" sz="1500" dirty="0" smtClean="0"/>
              <a:t>GPU</a:t>
            </a:r>
          </a:p>
          <a:p>
            <a:pPr marL="0" indent="0" algn="just">
              <a:buNone/>
            </a:pPr>
            <a:r>
              <a:rPr lang="en-US" sz="1500" b="1" dirty="0" smtClean="0"/>
              <a:t>Software </a:t>
            </a:r>
            <a:r>
              <a:rPr lang="en-US" sz="1500" b="1" dirty="0"/>
              <a:t>Requirements:</a:t>
            </a:r>
          </a:p>
          <a:p>
            <a:pPr marL="0" indent="0" algn="just">
              <a:buNone/>
            </a:pPr>
            <a:r>
              <a:rPr lang="en-US" sz="1500" b="1" dirty="0"/>
              <a:t>Operating System:</a:t>
            </a:r>
            <a:endParaRPr lang="en-US" sz="1500" dirty="0"/>
          </a:p>
          <a:p>
            <a:pPr lvl="1" algn="just"/>
            <a:r>
              <a:rPr lang="en-US" sz="1500" dirty="0"/>
              <a:t>Windows 10/11 (64-bit) or Windows Server 2016/2019 for enterprise-level deployment.</a:t>
            </a:r>
          </a:p>
          <a:p>
            <a:pPr lvl="1" algn="just"/>
            <a:r>
              <a:rPr lang="en-US" sz="1500" dirty="0" err="1"/>
              <a:t>macOS</a:t>
            </a:r>
            <a:r>
              <a:rPr lang="en-US" sz="1500" dirty="0"/>
              <a:t>/Linux (if the project components support cross-platform tools).</a:t>
            </a:r>
          </a:p>
          <a:p>
            <a:pPr marL="0" indent="0" algn="just">
              <a:buNone/>
            </a:pPr>
            <a:r>
              <a:rPr lang="en-US" sz="1500" b="1" dirty="0"/>
              <a:t>Development Tools:</a:t>
            </a:r>
            <a:endParaRPr lang="en-US" sz="1500" dirty="0"/>
          </a:p>
          <a:p>
            <a:pPr lvl="1" algn="just"/>
            <a:r>
              <a:rPr lang="en-US" sz="1500" b="1" dirty="0" err="1"/>
              <a:t>UiPath</a:t>
            </a:r>
            <a:r>
              <a:rPr lang="en-US" sz="1500" b="1" dirty="0"/>
              <a:t> Studio:</a:t>
            </a:r>
            <a:r>
              <a:rPr lang="en-US" sz="1500" dirty="0"/>
              <a:t> For building and running the RPA workflows.</a:t>
            </a:r>
          </a:p>
          <a:p>
            <a:pPr lvl="1" algn="just"/>
            <a:r>
              <a:rPr lang="en-US" sz="1500" b="1" dirty="0" err="1"/>
              <a:t>Dialogflow</a:t>
            </a:r>
            <a:r>
              <a:rPr lang="en-US" sz="1500" b="1" dirty="0"/>
              <a:t> Console:</a:t>
            </a:r>
            <a:r>
              <a:rPr lang="en-US" sz="1500" dirty="0"/>
              <a:t> For </a:t>
            </a:r>
            <a:r>
              <a:rPr lang="en-US" sz="1500" dirty="0" err="1"/>
              <a:t>chatbot</a:t>
            </a:r>
            <a:r>
              <a:rPr lang="en-US" sz="1500" dirty="0"/>
              <a:t> training and configuration.</a:t>
            </a:r>
          </a:p>
          <a:p>
            <a:pPr marL="0" indent="0" algn="just">
              <a:buNone/>
            </a:pPr>
            <a:r>
              <a:rPr lang="en-US" sz="1500" b="1" dirty="0" smtClean="0"/>
              <a:t>Third-Party </a:t>
            </a:r>
            <a:r>
              <a:rPr lang="en-US" sz="1500" b="1" dirty="0"/>
              <a:t>APIs:</a:t>
            </a:r>
            <a:endParaRPr lang="en-US" sz="1500" dirty="0"/>
          </a:p>
          <a:p>
            <a:pPr lvl="1" algn="just"/>
            <a:r>
              <a:rPr lang="en-US" sz="1500" b="1" dirty="0" err="1"/>
              <a:t>Dialogflow</a:t>
            </a:r>
            <a:r>
              <a:rPr lang="en-US" sz="1500" b="1" dirty="0"/>
              <a:t> API:</a:t>
            </a:r>
            <a:r>
              <a:rPr lang="en-US" sz="1500" dirty="0"/>
              <a:t> For connecting the </a:t>
            </a:r>
            <a:r>
              <a:rPr lang="en-US" sz="1500" dirty="0" err="1"/>
              <a:t>chatbot</a:t>
            </a:r>
            <a:r>
              <a:rPr lang="en-US" sz="1500" dirty="0"/>
              <a:t> backend and automating intent handling.</a:t>
            </a:r>
          </a:p>
          <a:p>
            <a:pPr lvl="1" algn="just"/>
            <a:r>
              <a:rPr lang="en-US" sz="1500" b="1" dirty="0"/>
              <a:t>Google Sheets API (optional):</a:t>
            </a:r>
            <a:r>
              <a:rPr lang="en-US" sz="1500" dirty="0"/>
              <a:t> For managing dynamic datasets if required.</a:t>
            </a:r>
          </a:p>
          <a:p>
            <a:pPr marL="0" indent="0" algn="just">
              <a:buNone/>
            </a:pPr>
            <a:r>
              <a:rPr lang="en-US" sz="1500" b="1" dirty="0" smtClean="0"/>
              <a:t>Dependencies </a:t>
            </a:r>
            <a:r>
              <a:rPr lang="en-US" sz="1500" b="1" dirty="0"/>
              <a:t>and Libraries:</a:t>
            </a:r>
            <a:endParaRPr lang="en-US" sz="1500" dirty="0"/>
          </a:p>
          <a:p>
            <a:pPr lvl="1" algn="just"/>
            <a:r>
              <a:rPr lang="en-US" sz="1500" b="1" dirty="0" err="1"/>
              <a:t>UiPath</a:t>
            </a:r>
            <a:r>
              <a:rPr lang="en-US" sz="1500" b="1" dirty="0"/>
              <a:t> Add-ons:</a:t>
            </a:r>
            <a:r>
              <a:rPr lang="en-US" sz="1500" dirty="0"/>
              <a:t> Automation libraries and pre-built components for Excel and file handling.</a:t>
            </a:r>
          </a:p>
          <a:p>
            <a:pPr marL="0" indent="0" algn="just">
              <a:buNone/>
            </a:pPr>
            <a:endParaRPr lang="en-US" sz="15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22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Description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</a:t>
            </a:r>
            <a:r>
              <a:rPr lang="en-US" dirty="0"/>
              <a:t>of the </a:t>
            </a:r>
            <a:r>
              <a:rPr lang="en-US" dirty="0" smtClean="0"/>
              <a:t>Module 1</a:t>
            </a:r>
          </a:p>
          <a:p>
            <a:pPr lvl="1"/>
            <a:r>
              <a:rPr lang="en-US" dirty="0" smtClean="0"/>
              <a:t>Short description</a:t>
            </a:r>
          </a:p>
          <a:p>
            <a:r>
              <a:rPr lang="en-US" dirty="0" smtClean="0"/>
              <a:t>DFD / Activity Diagram</a:t>
            </a:r>
          </a:p>
          <a:p>
            <a:r>
              <a:rPr lang="en-US" dirty="0"/>
              <a:t>Name of the Module </a:t>
            </a:r>
            <a:r>
              <a:rPr lang="en-US" dirty="0" smtClean="0"/>
              <a:t>2</a:t>
            </a:r>
            <a:endParaRPr lang="en-US" dirty="0"/>
          </a:p>
          <a:p>
            <a:pPr lvl="1"/>
            <a:r>
              <a:rPr lang="en-US" dirty="0"/>
              <a:t>Short description</a:t>
            </a:r>
          </a:p>
          <a:p>
            <a:r>
              <a:rPr lang="en-US" dirty="0"/>
              <a:t>DFD / Activity Diagram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50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Design</a:t>
            </a:r>
            <a:endParaRPr lang="en-IN" dirty="0">
              <a:latin typeface="+mj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194005"/>
            <a:ext cx="8763000" cy="4927189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916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Process Design</a:t>
            </a:r>
            <a:endParaRPr lang="en-IN" dirty="0">
              <a:latin typeface="+mj-lt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19032" y="1268760"/>
            <a:ext cx="8305936" cy="46737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342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Implementation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Implementation </a:t>
            </a:r>
            <a:r>
              <a:rPr lang="en-US" dirty="0" smtClean="0"/>
              <a:t>of </a:t>
            </a:r>
            <a:r>
              <a:rPr lang="en-US" dirty="0" smtClean="0"/>
              <a:t>Excel </a:t>
            </a:r>
          </a:p>
          <a:p>
            <a:pPr marL="0" indent="0">
              <a:buNone/>
            </a:pPr>
            <a:r>
              <a:rPr lang="en-US" dirty="0" smtClean="0"/>
              <a:t>Sheet Data extraction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Implementation </a:t>
            </a:r>
            <a:r>
              <a:rPr lang="en-US" dirty="0"/>
              <a:t>of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Entering Intents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4"/>
          <a:srcRect t="17804" b="28482"/>
          <a:stretch/>
        </p:blipFill>
        <p:spPr bwMode="auto">
          <a:xfrm>
            <a:off x="4391980" y="990600"/>
            <a:ext cx="4464496" cy="23686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9" r="23523" b="71525"/>
          <a:stretch/>
        </p:blipFill>
        <p:spPr>
          <a:xfrm>
            <a:off x="4616012" y="3645024"/>
            <a:ext cx="3880424" cy="24192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947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Testing</a:t>
            </a:r>
            <a:endParaRPr lang="en-IN" dirty="0">
              <a:latin typeface="+mj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20" y="1160748"/>
            <a:ext cx="8521960" cy="4791659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132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Conclusions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668" y="1196752"/>
            <a:ext cx="87630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900" dirty="0"/>
              <a:t>This "The Automated </a:t>
            </a:r>
            <a:r>
              <a:rPr lang="en-US" sz="1900" dirty="0" err="1"/>
              <a:t>Chatbot</a:t>
            </a:r>
            <a:r>
              <a:rPr lang="en-US" sz="1900" dirty="0"/>
              <a:t> Intent Training and Testing System" transforms the way conversational AI systems are developed and maintained by leveraging </a:t>
            </a:r>
            <a:r>
              <a:rPr lang="en-US" sz="1900" dirty="0" err="1"/>
              <a:t>UiPath's</a:t>
            </a:r>
            <a:r>
              <a:rPr lang="en-US" sz="1900" dirty="0"/>
              <a:t> Robotic Process Automation (RPA). This project addresses the challenges of scaling </a:t>
            </a:r>
            <a:r>
              <a:rPr lang="en-US" sz="1900" dirty="0" err="1"/>
              <a:t>chatbots</a:t>
            </a:r>
            <a:r>
              <a:rPr lang="en-US" sz="1900" dirty="0"/>
              <a:t>, automating intent creation, and ensuring accuracy in training and testing, providing an efficient and systematic solution for developers.</a:t>
            </a:r>
          </a:p>
          <a:p>
            <a:pPr marL="0" indent="0" algn="just">
              <a:buNone/>
            </a:pPr>
            <a:r>
              <a:rPr lang="en-US" sz="1900" dirty="0"/>
              <a:t>While the system greatly enhances efficiency, challenges may arise when dealing with highly complex or context-sensitive interactions. Continuous improvement through advanced algorithms and integration with emerging AI technologies is essential to tackle these limitations.</a:t>
            </a:r>
          </a:p>
          <a:p>
            <a:pPr marL="0" indent="0" algn="just">
              <a:buNone/>
            </a:pPr>
            <a:r>
              <a:rPr lang="en-US" sz="1900" dirty="0"/>
              <a:t>Nonetheless, the successful implementation of this project lays a strong foundation for scalable and reliable </a:t>
            </a:r>
            <a:r>
              <a:rPr lang="en-US" sz="1900" dirty="0" err="1"/>
              <a:t>chatbot</a:t>
            </a:r>
            <a:r>
              <a:rPr lang="en-US" sz="1900" dirty="0"/>
              <a:t> solutions, making it a valuable tool for businesses and developers aiming to meet the demands of diverse and dynamic user interactions. This project marks a step forward in automating and optimizing </a:t>
            </a:r>
            <a:r>
              <a:rPr lang="en-US" sz="1900" dirty="0" err="1"/>
              <a:t>chatbot</a:t>
            </a:r>
            <a:r>
              <a:rPr lang="en-US" sz="1900" dirty="0"/>
              <a:t> workflows, contributing to the evolution of conversational AI in the digital age.</a:t>
            </a:r>
          </a:p>
          <a:p>
            <a:pPr marL="0" indent="0" algn="just">
              <a:buNone/>
            </a:pPr>
            <a:endParaRPr lang="en-US" sz="19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537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Future Enhancement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3390" lvl="1" indent="-226695">
              <a:lnSpc>
                <a:spcPts val="3087"/>
              </a:lnSpc>
              <a:buAutoNum type="arabicPeriod"/>
            </a:pPr>
            <a:r>
              <a:rPr lang="en-US" sz="21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Expanded Knowledge Base</a:t>
            </a:r>
            <a:r>
              <a:rPr lang="en-US" sz="2100" b="1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: </a:t>
            </a:r>
            <a:r>
              <a:rPr lang="en-US" sz="21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Extend the </a:t>
            </a:r>
            <a:r>
              <a:rPr lang="en-US" sz="2100" dirty="0" err="1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chatbot's</a:t>
            </a:r>
            <a:r>
              <a:rPr lang="en-US" sz="21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capabilities to cover more topics, such as financial aid, campus events, and career services.</a:t>
            </a:r>
          </a:p>
          <a:p>
            <a:pPr marL="453390" lvl="1" indent="-226695">
              <a:lnSpc>
                <a:spcPts val="3087"/>
              </a:lnSpc>
              <a:buAutoNum type="arabicPeriod"/>
            </a:pPr>
            <a:r>
              <a:rPr lang="en-US" sz="21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Multilingual Support:</a:t>
            </a:r>
            <a:r>
              <a:rPr lang="en-US" sz="21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Add support for multiple languages to cater to a diverse student body, improving accessibility for international students.</a:t>
            </a:r>
          </a:p>
          <a:p>
            <a:pPr marL="453390" lvl="1" indent="-226695">
              <a:lnSpc>
                <a:spcPts val="3087"/>
              </a:lnSpc>
              <a:buAutoNum type="arabicPeriod"/>
            </a:pPr>
            <a:r>
              <a:rPr lang="en-US" sz="21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Integration with Academic Systems</a:t>
            </a:r>
            <a:r>
              <a:rPr lang="en-US" sz="21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: Integrate the </a:t>
            </a:r>
            <a:r>
              <a:rPr lang="en-US" sz="2100" dirty="0" err="1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chatbot</a:t>
            </a:r>
            <a:r>
              <a:rPr lang="en-US" sz="21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with Learning Management Systems (LMS) and Student Information Systems (SIS) for real-time updates on grades, assignments, and enrollment status.</a:t>
            </a:r>
          </a:p>
          <a:p>
            <a:pPr marL="453390" lvl="1" indent="-226695">
              <a:lnSpc>
                <a:spcPts val="3087"/>
              </a:lnSpc>
              <a:buAutoNum type="arabicPeriod"/>
            </a:pPr>
            <a:r>
              <a:rPr lang="en-US" sz="21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Voice Interaction</a:t>
            </a:r>
            <a:r>
              <a:rPr lang="en-US" sz="21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: Incorporate voice recognition technology to allow students to interact with the </a:t>
            </a:r>
            <a:r>
              <a:rPr lang="en-US" sz="2100" dirty="0" err="1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chatbot</a:t>
            </a:r>
            <a:r>
              <a:rPr lang="en-US" sz="21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through voice commands, enhancing user experience.</a:t>
            </a:r>
            <a:endParaRPr lang="en-US" sz="2100" dirty="0">
              <a:solidFill>
                <a:srgbClr val="000000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085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References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 err="1"/>
              <a:t>Kuppusamy</a:t>
            </a:r>
            <a:r>
              <a:rPr lang="en-US" dirty="0"/>
              <a:t>, </a:t>
            </a:r>
            <a:r>
              <a:rPr lang="en-US" dirty="0" err="1"/>
              <a:t>Palanivel</a:t>
            </a:r>
            <a:r>
              <a:rPr lang="en-US" dirty="0"/>
              <a:t> &amp; Joseph K, Suresh. (2020). </a:t>
            </a:r>
            <a:r>
              <a:rPr lang="en-US" u="sng" dirty="0">
                <a:hlinkClick r:id="rId4"/>
              </a:rPr>
              <a:t>Robotic Process</a:t>
            </a:r>
            <a:r>
              <a:rPr lang="en-US" dirty="0"/>
              <a:t> </a:t>
            </a:r>
            <a:r>
              <a:rPr lang="en-US" u="sng" dirty="0">
                <a:hlinkClick r:id="rId4"/>
              </a:rPr>
              <a:t>Automation to Smart Education</a:t>
            </a:r>
            <a:r>
              <a:rPr lang="en-US" dirty="0"/>
              <a:t>. 3775.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 err="1"/>
              <a:t>Patil</a:t>
            </a:r>
            <a:r>
              <a:rPr lang="en-US" dirty="0"/>
              <a:t>, </a:t>
            </a:r>
            <a:r>
              <a:rPr lang="en-US" dirty="0" err="1"/>
              <a:t>Dr</a:t>
            </a:r>
            <a:r>
              <a:rPr lang="en-US" dirty="0"/>
              <a:t> &amp; Mane, Vinod &amp; </a:t>
            </a:r>
            <a:r>
              <a:rPr lang="en-US" dirty="0" err="1"/>
              <a:t>Patil</a:t>
            </a:r>
            <a:r>
              <a:rPr lang="en-US" dirty="0"/>
              <a:t>, Dr. (2019). </a:t>
            </a:r>
            <a:r>
              <a:rPr lang="en-US" u="sng" dirty="0">
                <a:hlinkClick r:id="rId5"/>
              </a:rPr>
              <a:t>Social Innovation in</a:t>
            </a:r>
            <a:r>
              <a:rPr lang="en-US" dirty="0"/>
              <a:t> </a:t>
            </a:r>
            <a:r>
              <a:rPr lang="en-US" u="sng" dirty="0">
                <a:hlinkClick r:id="rId5"/>
              </a:rPr>
              <a:t> System by using Robotic Proces</a:t>
            </a:r>
            <a:r>
              <a:rPr lang="en-US" u="sng" dirty="0"/>
              <a:t>s Automation</a:t>
            </a:r>
            <a:r>
              <a:rPr lang="en-US" dirty="0"/>
              <a:t> (</a:t>
            </a:r>
            <a:r>
              <a:rPr lang="en-US" dirty="0" err="1"/>
              <a:t>Rpa</a:t>
            </a:r>
            <a:r>
              <a:rPr lang="en-US" dirty="0"/>
              <a:t>). International Journal of Innovative Technology and Exploring Engineering. 8. 3757-3760. 10.35940/ijitee.K2148.0981119.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 err="1"/>
              <a:t>Ariponnammal</a:t>
            </a:r>
            <a:r>
              <a:rPr lang="en-US" dirty="0"/>
              <a:t>, S. and Natarajan, S. (1994) ‘</a:t>
            </a:r>
            <a:r>
              <a:rPr lang="en-US" u="sng" dirty="0">
                <a:hlinkClick r:id="rId6"/>
              </a:rPr>
              <a:t>Transport </a:t>
            </a:r>
            <a:r>
              <a:rPr lang="en-US" u="sng" dirty="0" err="1">
                <a:hlinkClick r:id="rId6"/>
              </a:rPr>
              <a:t>Phonomena</a:t>
            </a:r>
            <a:r>
              <a:rPr lang="en-US" u="sng" dirty="0">
                <a:hlinkClick r:id="rId6"/>
              </a:rPr>
              <a:t> of Sm </a:t>
            </a:r>
            <a:r>
              <a:rPr lang="en-US" u="sng" dirty="0" err="1">
                <a:hlinkClick r:id="rId6"/>
              </a:rPr>
              <a:t>Sel</a:t>
            </a:r>
            <a:r>
              <a:rPr lang="en-US" u="sng" dirty="0">
                <a:hlinkClick r:id="rId6"/>
              </a:rPr>
              <a:t> – X </a:t>
            </a:r>
            <a:r>
              <a:rPr lang="en-US" u="sng" dirty="0" err="1">
                <a:hlinkClick r:id="rId6"/>
              </a:rPr>
              <a:t>Asx</a:t>
            </a:r>
            <a:r>
              <a:rPr lang="en-US" dirty="0"/>
              <a:t>’, </a:t>
            </a:r>
            <a:r>
              <a:rPr lang="en-US" dirty="0" err="1"/>
              <a:t>Pramana</a:t>
            </a:r>
            <a:r>
              <a:rPr lang="en-US" dirty="0"/>
              <a:t> – Journal of Physics Vol.42, No.1, pp.421-425.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Barnard, R.W. and Kellogg, C. (1980) ‘</a:t>
            </a:r>
            <a:r>
              <a:rPr lang="en-US" u="sng" dirty="0">
                <a:hlinkClick r:id="rId6"/>
              </a:rPr>
              <a:t>Applications of Convolution Operators to Problems in Univalent Function Theory’</a:t>
            </a:r>
            <a:r>
              <a:rPr lang="en-US" dirty="0"/>
              <a:t>, Michigan Mach, J., Vol.27, pp.81–94.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Shin, K.G. and </a:t>
            </a:r>
            <a:r>
              <a:rPr lang="en-US" dirty="0" err="1"/>
              <a:t>Mckay</a:t>
            </a:r>
            <a:r>
              <a:rPr lang="en-US" dirty="0"/>
              <a:t>, N.D. (1984) ‘</a:t>
            </a:r>
            <a:r>
              <a:rPr lang="en-US" u="sng" dirty="0">
                <a:hlinkClick r:id="rId6"/>
              </a:rPr>
              <a:t>Open Loop Minimum Time Control of Mechanical Manipulations and its Applications</a:t>
            </a:r>
            <a:r>
              <a:rPr lang="en-US" dirty="0"/>
              <a:t>’, </a:t>
            </a:r>
            <a:r>
              <a:rPr lang="en-US" dirty="0" err="1"/>
              <a:t>Proc.Amer.Contr.Conf</a:t>
            </a:r>
            <a:r>
              <a:rPr lang="en-US" dirty="0"/>
              <a:t>., San Diego, CA, pp. 1231-1236.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047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32822" y="2321005"/>
            <a:ext cx="407836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Queries</a:t>
            </a:r>
            <a:endParaRPr lang="en-US" sz="9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180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7460" y="2321005"/>
            <a:ext cx="768909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Demonstration</a:t>
            </a:r>
            <a:endParaRPr lang="en-US" sz="9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636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44234" y="2321005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7485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9373</TotalTime>
  <Words>1445</Words>
  <Application>Microsoft Office PowerPoint</Application>
  <PresentationFormat>On-screen Show (4:3)</PresentationFormat>
  <Paragraphs>129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Arial</vt:lpstr>
      <vt:lpstr>Calibri</vt:lpstr>
      <vt:lpstr>Open Sans</vt:lpstr>
      <vt:lpstr>Open Sans Bold</vt:lpstr>
      <vt:lpstr>Open Sans Extrabold</vt:lpstr>
      <vt:lpstr>Open Sans Light</vt:lpstr>
      <vt:lpstr>Open Sans Semibold</vt:lpstr>
      <vt:lpstr>Open Sauce Bold</vt:lpstr>
      <vt:lpstr>Open Sauce Light</vt:lpstr>
      <vt:lpstr>Public Sans Bold</vt:lpstr>
      <vt:lpstr>Public Sans Medium</vt:lpstr>
      <vt:lpstr>Times New Roman</vt:lpstr>
      <vt:lpstr>Wingdings</vt:lpstr>
      <vt:lpstr>Office Theme</vt:lpstr>
      <vt:lpstr>PowerPoint Presentation</vt:lpstr>
      <vt:lpstr>Abstract</vt:lpstr>
      <vt:lpstr>Need for the Proposed System</vt:lpstr>
      <vt:lpstr>Advantages of the Proposed System</vt:lpstr>
      <vt:lpstr>Literature Survey</vt:lpstr>
      <vt:lpstr>Main Objective</vt:lpstr>
      <vt:lpstr>Architecture</vt:lpstr>
      <vt:lpstr>System Requirements</vt:lpstr>
      <vt:lpstr>Functional Description</vt:lpstr>
      <vt:lpstr>Table Design</vt:lpstr>
      <vt:lpstr>Process Design</vt:lpstr>
      <vt:lpstr>Implementation</vt:lpstr>
      <vt:lpstr>Testing</vt:lpstr>
      <vt:lpstr>Conclusions</vt:lpstr>
      <vt:lpstr>Future Enhancement</vt:lpstr>
      <vt:lpstr>References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Abishek Rajesh</cp:lastModifiedBy>
  <cp:revision>1748</cp:revision>
  <dcterms:created xsi:type="dcterms:W3CDTF">2013-05-17T03:00:03Z</dcterms:created>
  <dcterms:modified xsi:type="dcterms:W3CDTF">2024-11-22T03:56:52Z</dcterms:modified>
</cp:coreProperties>
</file>